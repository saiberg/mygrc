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Morales" userId="36848eb22d34ec40" providerId="LiveId" clId="{230D1405-699B-4196-B6C5-1C5FBB5E48C9}"/>
    <pc:docChg chg="modSld">
      <pc:chgData name="Marco Morales" userId="36848eb22d34ec40" providerId="LiveId" clId="{230D1405-699B-4196-B6C5-1C5FBB5E48C9}" dt="2026-06-11T21:28:40.849" v="1" actId="1076"/>
      <pc:docMkLst>
        <pc:docMk/>
      </pc:docMkLst>
      <pc:sldChg chg="modSp mod">
        <pc:chgData name="Marco Morales" userId="36848eb22d34ec40" providerId="LiveId" clId="{230D1405-699B-4196-B6C5-1C5FBB5E48C9}" dt="2026-06-11T21:28:40.849" v="1" actId="1076"/>
        <pc:sldMkLst>
          <pc:docMk/>
          <pc:sldMk cId="0" sldId="260"/>
        </pc:sldMkLst>
        <pc:spChg chg="mod">
          <ac:chgData name="Marco Morales" userId="36848eb22d34ec40" providerId="LiveId" clId="{230D1405-699B-4196-B6C5-1C5FBB5E48C9}" dt="2026-06-11T21:28:40.849" v="1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arco Morales" userId="36848eb22d34ec40" providerId="LiveId" clId="{230D1405-699B-4196-B6C5-1C5FBB5E48C9}" dt="2026-06-11T21:28:12.819" v="0" actId="1076"/>
        <pc:sldMkLst>
          <pc:docMk/>
          <pc:sldMk cId="0" sldId="261"/>
        </pc:sldMkLst>
        <pc:spChg chg="mod">
          <ac:chgData name="Marco Morales" userId="36848eb22d34ec40" providerId="LiveId" clId="{230D1405-699B-4196-B6C5-1C5FBB5E48C9}" dt="2026-06-11T21:28:12.819" v="0" actId="107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SoD</c:v>
                </c:pt>
                <c:pt idx="1">
                  <c:v>Critical</c:v>
                </c:pt>
                <c:pt idx="2">
                  <c:v>Inactive</c:v>
                </c:pt>
                <c:pt idx="3">
                  <c:v>Obsolete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67</c:v>
                </c:pt>
                <c:pt idx="2">
                  <c:v>83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23-4072-B0CF-7A31D8CC6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Basis</c:v>
                </c:pt>
                <c:pt idx="1">
                  <c:v>HR/ECP</c:v>
                </c:pt>
                <c:pt idx="2">
                  <c:v>FI</c:v>
                </c:pt>
                <c:pt idx="3">
                  <c:v>MM</c:v>
                </c:pt>
                <c:pt idx="4">
                  <c:v>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29</c:v>
                </c:pt>
                <c:pt idx="2">
                  <c:v>18</c:v>
                </c:pt>
                <c:pt idx="3">
                  <c:v>11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62-4326-A8EB-9330D1AC6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SAP ECC &amp; SAP ECP Access Governance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/ Audit Committee Presentation</a:t>
            </a:r>
          </a:p>
          <a:p>
            <a:r>
              <a:t>Big Four Consulting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4025" y="457168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KPIs: </a:t>
            </a:r>
            <a:r>
              <a:rPr dirty="0" err="1"/>
              <a:t>SoD</a:t>
            </a:r>
            <a:r>
              <a:rPr dirty="0"/>
              <a:t> 11.4% | Critical Access 5.4% | Inactive Users 6.6% | Compliance 84%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SoD Risk Heat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32628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HIGH: Vendor Creation vs Payment Processing</a:t>
            </a:r>
          </a:p>
          <a:p>
            <a:r>
              <a:rPr dirty="0"/>
              <a:t>HIGH: Payroll Master Data vs Payroll Execution</a:t>
            </a:r>
          </a:p>
          <a:p>
            <a:r>
              <a:rPr dirty="0"/>
              <a:t>MEDIUM: Role Maintenance vs User Administration</a:t>
            </a:r>
          </a:p>
          <a:p>
            <a:r>
              <a:rPr dirty="0"/>
              <a:t>LOW: Reporting vs Display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Access Distribution by Module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819401"/>
              </p:ext>
            </p:extLst>
          </p:nvPr>
        </p:nvGraphicFramePr>
        <p:xfrm>
          <a:off x="1326630" y="1801818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Governance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052" y="1600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Maturity: 3.2 / 5</a:t>
            </a:r>
          </a:p>
          <a:p>
            <a:r>
              <a:t>Level 1 Ad Hoc</a:t>
            </a:r>
          </a:p>
          <a:p>
            <a:r>
              <a:t>Level 2 Repeatable</a:t>
            </a:r>
          </a:p>
          <a:p>
            <a:r>
              <a:t>Level 3 Defined (Current)</a:t>
            </a:r>
          </a:p>
          <a:p>
            <a:r>
              <a:t>Level 4 Managed</a:t>
            </a:r>
          </a:p>
          <a:p>
            <a:r>
              <a:t>Level 5 Optimized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446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1. </a:t>
            </a:r>
            <a:r>
              <a:rPr dirty="0" err="1"/>
              <a:t>SoD</a:t>
            </a:r>
            <a:r>
              <a:rPr dirty="0"/>
              <a:t> conflicts in AP process (High/High)</a:t>
            </a:r>
          </a:p>
          <a:p>
            <a:r>
              <a:rPr dirty="0"/>
              <a:t>2. Excessive SU01 access (High/High)</a:t>
            </a:r>
          </a:p>
          <a:p>
            <a:r>
              <a:rPr dirty="0"/>
              <a:t>3. Excessive PFCG access (High/High)</a:t>
            </a:r>
          </a:p>
          <a:p>
            <a:r>
              <a:rPr dirty="0"/>
              <a:t>4. Inactive users &gt;90 days (Medium/High)</a:t>
            </a:r>
          </a:p>
          <a:p>
            <a:r>
              <a:rPr dirty="0"/>
              <a:t>5. Obsolete roles (Medium/Medium)</a:t>
            </a:r>
          </a:p>
          <a:p>
            <a:r>
              <a:rPr dirty="0"/>
              <a:t>6. Unassigned role owners (Medium/Medium)</a:t>
            </a:r>
          </a:p>
          <a:p>
            <a:r>
              <a:rPr dirty="0"/>
              <a:t>7. Broad table maintenance access (High/Medium)</a:t>
            </a:r>
          </a:p>
          <a:p>
            <a:r>
              <a:rPr dirty="0"/>
              <a:t>8. Excessive payroll access (High/High)</a:t>
            </a:r>
          </a:p>
          <a:p>
            <a:r>
              <a:rPr dirty="0"/>
              <a:t>9. Missing recertification process (Medium/High)</a:t>
            </a:r>
          </a:p>
          <a:p>
            <a:r>
              <a:rPr dirty="0"/>
              <a:t>10. Limited monitoring controls (Medium/Medium)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 / 60 / 90 Day Remediation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111" y="1753849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0-30 Days: Remove critical </a:t>
            </a:r>
            <a:r>
              <a:rPr dirty="0" err="1"/>
              <a:t>SoD</a:t>
            </a:r>
            <a:r>
              <a:rPr dirty="0"/>
              <a:t> conflicts</a:t>
            </a:r>
          </a:p>
          <a:p>
            <a:endParaRPr dirty="0"/>
          </a:p>
          <a:p>
            <a:r>
              <a:rPr dirty="0"/>
              <a:t>31-60 Days: Access recertification and role redesign</a:t>
            </a:r>
          </a:p>
          <a:p>
            <a:endParaRPr dirty="0"/>
          </a:p>
          <a:p>
            <a:r>
              <a:rPr dirty="0"/>
              <a:t>61-90 Days: Continuous monitoring and SAP GRC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072" y="1663908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Overall risk level: Medium-High.</a:t>
            </a:r>
          </a:p>
          <a:p>
            <a:r>
              <a:rPr dirty="0"/>
              <a:t>Immediate remediation recommended for critical access and </a:t>
            </a:r>
            <a:r>
              <a:rPr dirty="0" err="1"/>
              <a:t>SoD</a:t>
            </a:r>
            <a:r>
              <a:rPr dirty="0"/>
              <a:t> conflicts.</a:t>
            </a:r>
          </a:p>
          <a:p>
            <a:r>
              <a:rPr dirty="0"/>
              <a:t>Target maturity level: 4/5 within 12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271</Words>
  <Application>Microsoft Office PowerPoint</Application>
  <PresentationFormat>Presentación en pantalla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SAP ECC &amp; SAP ECP Access Governance Audit</vt:lpstr>
      <vt:lpstr>Executive Dashboard</vt:lpstr>
      <vt:lpstr>SoD Risk Heat Map</vt:lpstr>
      <vt:lpstr>Critical Access Distribution by Module</vt:lpstr>
      <vt:lpstr>Access Governance Maturity</vt:lpstr>
      <vt:lpstr>Top 10 Findings</vt:lpstr>
      <vt:lpstr>30 / 60 / 90 Day Remediation Roadmap</vt:lpstr>
      <vt:lpstr>Executive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Morales, Marco</dc:creator>
  <cp:keywords/>
  <dc:description>generated using python-pptx</dc:description>
  <cp:lastModifiedBy>Morales, Marco</cp:lastModifiedBy>
  <cp:revision>2</cp:revision>
  <dcterms:created xsi:type="dcterms:W3CDTF">2013-01-27T09:14:16Z</dcterms:created>
  <dcterms:modified xsi:type="dcterms:W3CDTF">2026-06-11T21:28:50Z</dcterms:modified>
  <cp:category/>
</cp:coreProperties>
</file>